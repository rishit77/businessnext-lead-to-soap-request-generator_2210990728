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5"/>
  </p:notesMasterIdLst>
  <p:handoutMasterIdLst>
    <p:handoutMasterId r:id="rId16"/>
  </p:handoutMasterIdLst>
  <p:sldIdLst>
    <p:sldId id="256" r:id="rId5"/>
    <p:sldId id="257" r:id="rId6"/>
    <p:sldId id="269" r:id="rId7"/>
    <p:sldId id="270" r:id="rId8"/>
    <p:sldId id="271" r:id="rId9"/>
    <p:sldId id="272" r:id="rId10"/>
    <p:sldId id="273" r:id="rId11"/>
    <p:sldId id="274" r:id="rId12"/>
    <p:sldId id="275" r:id="rId13"/>
    <p:sldId id="268"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1000"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defRPr sz="1800">
                <a:latin typeface="Times New Roman"/>
              </a:defRPr>
            </a:pPr>
            <a:r>
              <a:rPr lang="en-US" b="1" dirty="0"/>
              <a:t>Dynamic SOAP Request Generation and CSV Export Utility Using C# and SQL Server</a:t>
            </a: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Rishit Chadha</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2210990728</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Monika Aggarwal</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gn="ctr">
              <a:lnSpc>
                <a:spcPct val="150000"/>
              </a:lnSpc>
              <a:spcBef>
                <a:spcPts val="400"/>
              </a:spcBef>
            </a:pPr>
            <a:r>
              <a:rPr lang="en-IN" sz="3000" dirty="0">
                <a:latin typeface="Times New Roman" panose="02020603050405020304" pitchFamily="18" charset="0"/>
                <a:cs typeface="Times New Roman" panose="02020603050405020304" pitchFamily="18" charset="0"/>
              </a:rPr>
              <a:t>This project automates SOAP request generation using metadata fetched dynamically from SQL Server databases. The system generates SOAP XML payloads and exports metadata into CSV files to simplify enterprise integration workflows.</a:t>
            </a:r>
          </a:p>
          <a:p>
            <a:pPr>
              <a:lnSpc>
                <a:spcPct val="100000"/>
              </a:lnSpc>
              <a:spcBef>
                <a:spcPts val="400"/>
              </a:spcBef>
            </a:pP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59EE5-1E1A-900E-C7E5-AC1DD7B223AB}"/>
              </a:ext>
            </a:extLst>
          </p:cNvPr>
          <p:cNvSpPr>
            <a:spLocks noGrp="1"/>
          </p:cNvSpPr>
          <p:nvPr>
            <p:ph type="title"/>
          </p:nvPr>
        </p:nvSpPr>
        <p:spPr>
          <a:xfrm>
            <a:off x="796954" y="0"/>
            <a:ext cx="5486040" cy="914040"/>
          </a:xfrm>
        </p:spPr>
        <p:txBody>
          <a:bodyPr/>
          <a:lstStyle/>
          <a:p>
            <a:pPr algn="ctr"/>
            <a:r>
              <a:rPr lang="en-US" sz="3200" dirty="0">
                <a:latin typeface="Times New Roman" panose="02020603050405020304" pitchFamily="18" charset="0"/>
                <a:cs typeface="Times New Roman" panose="02020603050405020304" pitchFamily="18" charset="0"/>
              </a:rPr>
              <a:t>Objectives</a:t>
            </a:r>
            <a:endParaRPr lang="en-IN" dirty="0"/>
          </a:p>
        </p:txBody>
      </p:sp>
      <p:sp>
        <p:nvSpPr>
          <p:cNvPr id="3" name="Subtitle 2">
            <a:extLst>
              <a:ext uri="{FF2B5EF4-FFF2-40B4-BE49-F238E27FC236}">
                <a16:creationId xmlns:a16="http://schemas.microsoft.com/office/drawing/2014/main" id="{D037ABE0-9617-ABFD-B4CE-1A156703DFCE}"/>
              </a:ext>
            </a:extLst>
          </p:cNvPr>
          <p:cNvSpPr>
            <a:spLocks noGrp="1"/>
          </p:cNvSpPr>
          <p:nvPr>
            <p:ph type="subTitle"/>
          </p:nvPr>
        </p:nvSpPr>
        <p:spPr>
          <a:xfrm>
            <a:off x="352338" y="1015068"/>
            <a:ext cx="8334102" cy="4566732"/>
          </a:xfrm>
        </p:spPr>
        <p:txBody>
          <a:bodyPr/>
          <a:lstStyle/>
          <a:p>
            <a:pPr>
              <a:lnSpc>
                <a:spcPct val="150000"/>
              </a:lnSpc>
              <a:defRPr sz="1800">
                <a:latin typeface="Times New Roman"/>
              </a:defRPr>
            </a:pPr>
            <a:r>
              <a:rPr lang="en-IN" sz="3000" dirty="0"/>
              <a:t> Automate SOAP request generation</a:t>
            </a:r>
          </a:p>
          <a:p>
            <a:pPr>
              <a:lnSpc>
                <a:spcPct val="150000"/>
              </a:lnSpc>
              <a:defRPr sz="1800">
                <a:latin typeface="Times New Roman"/>
              </a:defRPr>
            </a:pPr>
            <a:r>
              <a:rPr lang="en-IN" sz="3000" dirty="0"/>
              <a:t> Reduce repetitive manual coding</a:t>
            </a:r>
          </a:p>
          <a:p>
            <a:pPr>
              <a:lnSpc>
                <a:spcPct val="150000"/>
              </a:lnSpc>
              <a:defRPr sz="1800">
                <a:latin typeface="Times New Roman"/>
              </a:defRPr>
            </a:pPr>
            <a:r>
              <a:rPr lang="en-IN" sz="3000" dirty="0"/>
              <a:t> Export metadata into CSV format</a:t>
            </a:r>
          </a:p>
          <a:p>
            <a:pPr>
              <a:lnSpc>
                <a:spcPct val="150000"/>
              </a:lnSpc>
              <a:defRPr sz="1800">
                <a:latin typeface="Times New Roman"/>
              </a:defRPr>
            </a:pPr>
            <a:r>
              <a:rPr lang="en-IN" sz="3000" dirty="0"/>
              <a:t> Improve enterprise integration efficiency</a:t>
            </a:r>
          </a:p>
          <a:p>
            <a:pPr>
              <a:lnSpc>
                <a:spcPct val="150000"/>
              </a:lnSpc>
              <a:defRPr sz="1800">
                <a:latin typeface="Times New Roman"/>
              </a:defRPr>
            </a:pPr>
            <a:r>
              <a:rPr lang="en-IN" sz="3000" dirty="0"/>
              <a:t> Generate reusable XML payloads dynamically</a:t>
            </a:r>
          </a:p>
          <a:p>
            <a:pPr>
              <a:lnSpc>
                <a:spcPct val="150000"/>
              </a:lnSpc>
            </a:pPr>
            <a:endParaRPr lang="en-IN" sz="3000" dirty="0"/>
          </a:p>
        </p:txBody>
      </p:sp>
    </p:spTree>
    <p:extLst>
      <p:ext uri="{BB962C8B-B14F-4D97-AF65-F5344CB8AC3E}">
        <p14:creationId xmlns:p14="http://schemas.microsoft.com/office/powerpoint/2010/main" val="27330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FF8D1-0B2C-E751-E6BC-C2BAF073AE4D}"/>
              </a:ext>
            </a:extLst>
          </p:cNvPr>
          <p:cNvSpPr>
            <a:spLocks noGrp="1"/>
          </p:cNvSpPr>
          <p:nvPr>
            <p:ph type="title"/>
          </p:nvPr>
        </p:nvSpPr>
        <p:spPr>
          <a:xfrm>
            <a:off x="914400" y="0"/>
            <a:ext cx="5486040" cy="914040"/>
          </a:xfrm>
        </p:spPr>
        <p:txBody>
          <a:bodyPr/>
          <a:lstStyle/>
          <a:p>
            <a:pPr algn="ctr"/>
            <a:r>
              <a:rPr lang="en-US" sz="3200" dirty="0">
                <a:latin typeface="Times New Roman" panose="02020603050405020304" pitchFamily="18" charset="0"/>
                <a:cs typeface="Times New Roman" panose="02020603050405020304" pitchFamily="18" charset="0"/>
              </a:rPr>
              <a:t>Methodology</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024966A-E062-7079-200F-89002BAA9472}"/>
              </a:ext>
            </a:extLst>
          </p:cNvPr>
          <p:cNvSpPr>
            <a:spLocks noGrp="1"/>
          </p:cNvSpPr>
          <p:nvPr>
            <p:ph type="subTitle"/>
          </p:nvPr>
        </p:nvSpPr>
        <p:spPr/>
        <p:txBody>
          <a:bodyPr/>
          <a:lstStyle/>
          <a:p>
            <a:pPr>
              <a:lnSpc>
                <a:spcPct val="150000"/>
              </a:lnSpc>
              <a:defRPr sz="1800">
                <a:latin typeface="Times New Roman"/>
              </a:defRPr>
            </a:pPr>
            <a:r>
              <a:rPr lang="en-US" sz="3000" dirty="0"/>
              <a:t>User enters Owner ID and Layout ID</a:t>
            </a:r>
          </a:p>
          <a:p>
            <a:pPr>
              <a:lnSpc>
                <a:spcPct val="150000"/>
              </a:lnSpc>
              <a:defRPr sz="1800">
                <a:latin typeface="Times New Roman"/>
              </a:defRPr>
            </a:pPr>
            <a:r>
              <a:rPr lang="en-US" sz="3000" dirty="0"/>
              <a:t>SQL Server connection is established</a:t>
            </a:r>
          </a:p>
          <a:p>
            <a:pPr>
              <a:lnSpc>
                <a:spcPct val="150000"/>
              </a:lnSpc>
              <a:defRPr sz="1800">
                <a:latin typeface="Times New Roman"/>
              </a:defRPr>
            </a:pPr>
            <a:r>
              <a:rPr lang="en-US" sz="3000" dirty="0"/>
              <a:t>Stored procedure fetches metadata</a:t>
            </a:r>
          </a:p>
          <a:p>
            <a:pPr>
              <a:lnSpc>
                <a:spcPct val="150000"/>
              </a:lnSpc>
              <a:defRPr sz="1800">
                <a:latin typeface="Times New Roman"/>
              </a:defRPr>
            </a:pPr>
            <a:r>
              <a:rPr lang="en-US" sz="3000" dirty="0"/>
              <a:t>SOAP XML requests are generated dynamically</a:t>
            </a:r>
          </a:p>
          <a:p>
            <a:pPr>
              <a:lnSpc>
                <a:spcPct val="150000"/>
              </a:lnSpc>
              <a:defRPr sz="1800">
                <a:latin typeface="Times New Roman"/>
              </a:defRPr>
            </a:pPr>
            <a:r>
              <a:rPr lang="en-US" sz="3000" dirty="0"/>
              <a:t>XML and CSV outputs are created</a:t>
            </a:r>
          </a:p>
          <a:p>
            <a:endParaRPr lang="en-IN" dirty="0"/>
          </a:p>
        </p:txBody>
      </p:sp>
    </p:spTree>
    <p:extLst>
      <p:ext uri="{BB962C8B-B14F-4D97-AF65-F5344CB8AC3E}">
        <p14:creationId xmlns:p14="http://schemas.microsoft.com/office/powerpoint/2010/main" val="588787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8C092-7B6A-B227-80C0-E2A63B95A5B5}"/>
              </a:ext>
            </a:extLst>
          </p:cNvPr>
          <p:cNvSpPr>
            <a:spLocks noGrp="1"/>
          </p:cNvSpPr>
          <p:nvPr>
            <p:ph type="title"/>
          </p:nvPr>
        </p:nvSpPr>
        <p:spPr>
          <a:xfrm>
            <a:off x="931178" y="16778"/>
            <a:ext cx="5486040" cy="914040"/>
          </a:xfrm>
        </p:spPr>
        <p:txBody>
          <a:bodyPr/>
          <a:lstStyle/>
          <a:p>
            <a:r>
              <a:rPr lang="en-US" dirty="0"/>
              <a:t>Tools &amp; Technologies</a:t>
            </a:r>
            <a:endParaRPr lang="en-IN" dirty="0"/>
          </a:p>
        </p:txBody>
      </p:sp>
      <p:sp>
        <p:nvSpPr>
          <p:cNvPr id="3" name="Subtitle 2">
            <a:extLst>
              <a:ext uri="{FF2B5EF4-FFF2-40B4-BE49-F238E27FC236}">
                <a16:creationId xmlns:a16="http://schemas.microsoft.com/office/drawing/2014/main" id="{51902B07-EF27-2002-E118-5473C8340162}"/>
              </a:ext>
            </a:extLst>
          </p:cNvPr>
          <p:cNvSpPr>
            <a:spLocks noGrp="1"/>
          </p:cNvSpPr>
          <p:nvPr>
            <p:ph type="subTitle"/>
          </p:nvPr>
        </p:nvSpPr>
        <p:spPr>
          <a:xfrm>
            <a:off x="457380" y="1931691"/>
            <a:ext cx="8229240" cy="3977280"/>
          </a:xfrm>
        </p:spPr>
        <p:txBody>
          <a:bodyPr/>
          <a:lstStyle/>
          <a:p>
            <a:pPr>
              <a:lnSpc>
                <a:spcPct val="150000"/>
              </a:lnSpc>
              <a:defRPr sz="1800">
                <a:latin typeface="Times New Roman"/>
              </a:defRPr>
            </a:pPr>
            <a:r>
              <a:rPr lang="en-IN" sz="3000" dirty="0"/>
              <a:t>C#</a:t>
            </a:r>
          </a:p>
          <a:p>
            <a:pPr>
              <a:lnSpc>
                <a:spcPct val="150000"/>
              </a:lnSpc>
              <a:defRPr sz="1800">
                <a:latin typeface="Times New Roman"/>
              </a:defRPr>
            </a:pPr>
            <a:r>
              <a:rPr lang="en-IN" sz="3000" dirty="0"/>
              <a:t>.NET Framework</a:t>
            </a:r>
          </a:p>
          <a:p>
            <a:pPr>
              <a:lnSpc>
                <a:spcPct val="150000"/>
              </a:lnSpc>
              <a:defRPr sz="1800">
                <a:latin typeface="Times New Roman"/>
              </a:defRPr>
            </a:pPr>
            <a:r>
              <a:rPr lang="en-IN" sz="3000" dirty="0"/>
              <a:t>SQL Server</a:t>
            </a:r>
          </a:p>
          <a:p>
            <a:pPr>
              <a:lnSpc>
                <a:spcPct val="150000"/>
              </a:lnSpc>
              <a:defRPr sz="1800">
                <a:latin typeface="Times New Roman"/>
              </a:defRPr>
            </a:pPr>
            <a:r>
              <a:rPr lang="en-IN" sz="3000" dirty="0"/>
              <a:t>ADO.NET</a:t>
            </a:r>
          </a:p>
          <a:p>
            <a:pPr>
              <a:lnSpc>
                <a:spcPct val="150000"/>
              </a:lnSpc>
              <a:defRPr sz="1800">
                <a:latin typeface="Times New Roman"/>
              </a:defRPr>
            </a:pPr>
            <a:r>
              <a:rPr lang="en-IN" sz="3000" dirty="0"/>
              <a:t>SOAP XML</a:t>
            </a:r>
          </a:p>
          <a:p>
            <a:pPr>
              <a:lnSpc>
                <a:spcPct val="150000"/>
              </a:lnSpc>
              <a:defRPr sz="1800">
                <a:latin typeface="Times New Roman"/>
              </a:defRPr>
            </a:pPr>
            <a:r>
              <a:rPr lang="en-IN" sz="3000" dirty="0"/>
              <a:t>CSV Processing</a:t>
            </a:r>
          </a:p>
          <a:p>
            <a:pPr>
              <a:lnSpc>
                <a:spcPct val="150000"/>
              </a:lnSpc>
              <a:defRPr sz="1800">
                <a:latin typeface="Times New Roman"/>
              </a:defRPr>
            </a:pPr>
            <a:r>
              <a:rPr lang="en-IN" sz="3000" dirty="0"/>
              <a:t>Visual Studio</a:t>
            </a:r>
          </a:p>
          <a:p>
            <a:endParaRPr lang="en-IN" dirty="0"/>
          </a:p>
        </p:txBody>
      </p:sp>
    </p:spTree>
    <p:extLst>
      <p:ext uri="{BB962C8B-B14F-4D97-AF65-F5344CB8AC3E}">
        <p14:creationId xmlns:p14="http://schemas.microsoft.com/office/powerpoint/2010/main" val="1504352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063E9-553A-5124-8EA4-147CDBD51EA1}"/>
              </a:ext>
            </a:extLst>
          </p:cNvPr>
          <p:cNvSpPr>
            <a:spLocks noGrp="1"/>
          </p:cNvSpPr>
          <p:nvPr>
            <p:ph type="title"/>
          </p:nvPr>
        </p:nvSpPr>
        <p:spPr>
          <a:xfrm>
            <a:off x="864066" y="0"/>
            <a:ext cx="5486040" cy="914040"/>
          </a:xfrm>
        </p:spPr>
        <p:txBody>
          <a:bodyPr/>
          <a:lstStyle/>
          <a:p>
            <a:pPr algn="ctr"/>
            <a:r>
              <a:rPr lang="en-US" sz="3200" dirty="0">
                <a:latin typeface="Times New Roman" panose="02020603050405020304" pitchFamily="18" charset="0"/>
                <a:cs typeface="Times New Roman" panose="02020603050405020304" pitchFamily="18" charset="0"/>
              </a:rPr>
              <a:t>Implementation</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EFB290F-C169-FAA0-6982-13CDB05C7B17}"/>
              </a:ext>
            </a:extLst>
          </p:cNvPr>
          <p:cNvSpPr>
            <a:spLocks noGrp="1"/>
          </p:cNvSpPr>
          <p:nvPr>
            <p:ph type="subTitle"/>
          </p:nvPr>
        </p:nvSpPr>
        <p:spPr/>
        <p:txBody>
          <a:bodyPr/>
          <a:lstStyle/>
          <a:p>
            <a:pPr marL="0" indent="0" algn="ctr">
              <a:lnSpc>
                <a:spcPct val="150000"/>
              </a:lnSpc>
              <a:buNone/>
            </a:pPr>
            <a:r>
              <a:rPr lang="en-IN" sz="3000" dirty="0">
                <a:latin typeface="Times New Roman" panose="02020603050405020304" pitchFamily="18" charset="0"/>
                <a:cs typeface="Times New Roman" panose="02020603050405020304" pitchFamily="18" charset="0"/>
              </a:rPr>
              <a:t>The implementation includes metadata retrieval, dynamic XML generation, CSV export, validation mechanisms, database connectivity, exception handling, and reusable SOAP request generation logic.</a:t>
            </a:r>
          </a:p>
          <a:p>
            <a:endParaRPr lang="en-IN" dirty="0"/>
          </a:p>
        </p:txBody>
      </p:sp>
    </p:spTree>
    <p:extLst>
      <p:ext uri="{BB962C8B-B14F-4D97-AF65-F5344CB8AC3E}">
        <p14:creationId xmlns:p14="http://schemas.microsoft.com/office/powerpoint/2010/main" val="134510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DABF2-B1F6-FCDF-B9C5-08FD37A31ABB}"/>
              </a:ext>
            </a:extLst>
          </p:cNvPr>
          <p:cNvSpPr>
            <a:spLocks noGrp="1"/>
          </p:cNvSpPr>
          <p:nvPr>
            <p:ph type="title"/>
          </p:nvPr>
        </p:nvSpPr>
        <p:spPr>
          <a:xfrm>
            <a:off x="855677" y="58723"/>
            <a:ext cx="5486040" cy="914040"/>
          </a:xfrm>
        </p:spPr>
        <p:txBody>
          <a:bodyPr/>
          <a:lstStyle/>
          <a:p>
            <a:pPr algn="ctr"/>
            <a:r>
              <a:rPr lang="en-US" sz="3200" dirty="0">
                <a:latin typeface="Times New Roman" panose="02020603050405020304" pitchFamily="18" charset="0"/>
                <a:cs typeface="Times New Roman" panose="02020603050405020304" pitchFamily="18" charset="0"/>
              </a:rPr>
              <a:t>Results &amp; Outcomes</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3335A40-CDC5-6EDD-443A-0293E244CEFF}"/>
              </a:ext>
            </a:extLst>
          </p:cNvPr>
          <p:cNvSpPr>
            <a:spLocks noGrp="1"/>
          </p:cNvSpPr>
          <p:nvPr>
            <p:ph type="subTitle"/>
          </p:nvPr>
        </p:nvSpPr>
        <p:spPr/>
        <p:txBody>
          <a:bodyPr/>
          <a:lstStyle/>
          <a:p>
            <a:pPr>
              <a:lnSpc>
                <a:spcPct val="150000"/>
              </a:lnSpc>
              <a:defRPr sz="1800">
                <a:latin typeface="Times New Roman"/>
              </a:defRPr>
            </a:pPr>
            <a:r>
              <a:rPr lang="en-US" sz="3000" dirty="0"/>
              <a:t>Successfully automated SOAP XML generation</a:t>
            </a:r>
          </a:p>
          <a:p>
            <a:pPr>
              <a:lnSpc>
                <a:spcPct val="150000"/>
              </a:lnSpc>
              <a:defRPr sz="1800">
                <a:latin typeface="Times New Roman"/>
              </a:defRPr>
            </a:pPr>
            <a:r>
              <a:rPr lang="en-US" sz="3000" dirty="0"/>
              <a:t>Reduced manual effort</a:t>
            </a:r>
          </a:p>
          <a:p>
            <a:pPr>
              <a:lnSpc>
                <a:spcPct val="150000"/>
              </a:lnSpc>
              <a:defRPr sz="1800">
                <a:latin typeface="Times New Roman"/>
              </a:defRPr>
            </a:pPr>
            <a:r>
              <a:rPr lang="en-US" sz="3000" dirty="0"/>
              <a:t>Improved consistency in API workflows</a:t>
            </a:r>
          </a:p>
          <a:p>
            <a:pPr>
              <a:lnSpc>
                <a:spcPct val="150000"/>
              </a:lnSpc>
              <a:defRPr sz="1800">
                <a:latin typeface="Times New Roman"/>
              </a:defRPr>
            </a:pPr>
            <a:r>
              <a:rPr lang="en-US" sz="3000" dirty="0"/>
              <a:t>Generated reusable XML payloads</a:t>
            </a:r>
          </a:p>
          <a:p>
            <a:pPr>
              <a:lnSpc>
                <a:spcPct val="150000"/>
              </a:lnSpc>
              <a:defRPr sz="1800">
                <a:latin typeface="Times New Roman"/>
              </a:defRPr>
            </a:pPr>
            <a:r>
              <a:rPr lang="en-US" sz="3000" dirty="0"/>
              <a:t>Exported metadata successfully</a:t>
            </a:r>
          </a:p>
          <a:p>
            <a:endParaRPr lang="en-IN" dirty="0"/>
          </a:p>
        </p:txBody>
      </p:sp>
    </p:spTree>
    <p:extLst>
      <p:ext uri="{BB962C8B-B14F-4D97-AF65-F5344CB8AC3E}">
        <p14:creationId xmlns:p14="http://schemas.microsoft.com/office/powerpoint/2010/main" val="637818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761D9-81C8-0944-CC62-7B02FAE4BE77}"/>
              </a:ext>
            </a:extLst>
          </p:cNvPr>
          <p:cNvSpPr>
            <a:spLocks noGrp="1"/>
          </p:cNvSpPr>
          <p:nvPr>
            <p:ph type="title"/>
          </p:nvPr>
        </p:nvSpPr>
        <p:spPr>
          <a:xfrm>
            <a:off x="922789" y="0"/>
            <a:ext cx="5486040" cy="914040"/>
          </a:xfrm>
        </p:spPr>
        <p:txBody>
          <a:bodyPr/>
          <a:lstStyle/>
          <a:p>
            <a:pPr algn="ctr"/>
            <a:r>
              <a:rPr lang="en-US" sz="3200" dirty="0">
                <a:latin typeface="Times New Roman" panose="02020603050405020304" pitchFamily="18" charset="0"/>
                <a:cs typeface="Times New Roman" panose="02020603050405020304" pitchFamily="18" charset="0"/>
              </a:rPr>
              <a:t>Future Scope</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5DB2CFB-D1DF-6A82-635B-652FD5F8D177}"/>
              </a:ext>
            </a:extLst>
          </p:cNvPr>
          <p:cNvSpPr>
            <a:spLocks noGrp="1"/>
          </p:cNvSpPr>
          <p:nvPr>
            <p:ph type="subTitle"/>
          </p:nvPr>
        </p:nvSpPr>
        <p:spPr/>
        <p:txBody>
          <a:bodyPr/>
          <a:lstStyle/>
          <a:p>
            <a:pPr>
              <a:lnSpc>
                <a:spcPct val="150000"/>
              </a:lnSpc>
              <a:defRPr sz="1800">
                <a:latin typeface="Times New Roman"/>
              </a:defRPr>
            </a:pPr>
            <a:r>
              <a:rPr lang="en-US" sz="3000" dirty="0"/>
              <a:t>GUI-based interface</a:t>
            </a:r>
          </a:p>
          <a:p>
            <a:pPr>
              <a:lnSpc>
                <a:spcPct val="150000"/>
              </a:lnSpc>
              <a:defRPr sz="1800">
                <a:latin typeface="Times New Roman"/>
              </a:defRPr>
            </a:pPr>
            <a:r>
              <a:rPr lang="en-US" sz="3000" dirty="0"/>
              <a:t>REST API support</a:t>
            </a:r>
          </a:p>
          <a:p>
            <a:pPr>
              <a:lnSpc>
                <a:spcPct val="150000"/>
              </a:lnSpc>
              <a:defRPr sz="1800">
                <a:latin typeface="Times New Roman"/>
              </a:defRPr>
            </a:pPr>
            <a:r>
              <a:rPr lang="en-US" sz="3000" dirty="0"/>
              <a:t>Automated authentication</a:t>
            </a:r>
          </a:p>
          <a:p>
            <a:pPr>
              <a:lnSpc>
                <a:spcPct val="150000"/>
              </a:lnSpc>
              <a:defRPr sz="1800">
                <a:latin typeface="Times New Roman"/>
              </a:defRPr>
            </a:pPr>
            <a:r>
              <a:rPr lang="en-US" sz="3000" dirty="0"/>
              <a:t>XML validation</a:t>
            </a:r>
          </a:p>
          <a:p>
            <a:pPr>
              <a:lnSpc>
                <a:spcPct val="150000"/>
              </a:lnSpc>
              <a:defRPr sz="1800">
                <a:latin typeface="Times New Roman"/>
              </a:defRPr>
            </a:pPr>
            <a:r>
              <a:rPr lang="en-US" sz="3000" dirty="0"/>
              <a:t>Integration with testing frameworks</a:t>
            </a:r>
          </a:p>
          <a:p>
            <a:endParaRPr lang="en-IN" dirty="0"/>
          </a:p>
        </p:txBody>
      </p:sp>
    </p:spTree>
    <p:extLst>
      <p:ext uri="{BB962C8B-B14F-4D97-AF65-F5344CB8AC3E}">
        <p14:creationId xmlns:p14="http://schemas.microsoft.com/office/powerpoint/2010/main" val="3059533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F9342-A216-D463-BCC8-2916D1414ED3}"/>
              </a:ext>
            </a:extLst>
          </p:cNvPr>
          <p:cNvSpPr>
            <a:spLocks noGrp="1"/>
          </p:cNvSpPr>
          <p:nvPr>
            <p:ph type="title"/>
          </p:nvPr>
        </p:nvSpPr>
        <p:spPr>
          <a:xfrm>
            <a:off x="872455" y="0"/>
            <a:ext cx="5486040" cy="914040"/>
          </a:xfrm>
        </p:spPr>
        <p:txBody>
          <a:bodyPr/>
          <a:lstStyle/>
          <a:p>
            <a:pPr algn="ctr"/>
            <a:r>
              <a:rPr lang="en-US" sz="3200" dirty="0">
                <a:latin typeface="Times New Roman" panose="02020603050405020304" pitchFamily="18" charset="0"/>
                <a:cs typeface="Times New Roman" panose="02020603050405020304" pitchFamily="18" charset="0"/>
              </a:rPr>
              <a:t>Conclusion</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C0208A0-C721-6A21-195A-82E9A48A1D64}"/>
              </a:ext>
            </a:extLst>
          </p:cNvPr>
          <p:cNvSpPr>
            <a:spLocks noGrp="1"/>
          </p:cNvSpPr>
          <p:nvPr>
            <p:ph type="subTitle"/>
          </p:nvPr>
        </p:nvSpPr>
        <p:spPr/>
        <p:txBody>
          <a:bodyPr/>
          <a:lstStyle/>
          <a:p>
            <a:pPr marL="0" indent="0" algn="ctr">
              <a:lnSpc>
                <a:spcPct val="150000"/>
              </a:lnSpc>
              <a:buNone/>
            </a:pPr>
            <a:r>
              <a:rPr lang="en-US" sz="3000" dirty="0">
                <a:latin typeface="Times New Roman" panose="02020603050405020304" pitchFamily="18" charset="0"/>
                <a:cs typeface="Times New Roman" panose="02020603050405020304" pitchFamily="18" charset="0"/>
              </a:rPr>
              <a:t>The project successfully automated SOAP request generation and CSV export processes using C# and SQL Server, improving efficiency and simplifying enterprise integration workflows.</a:t>
            </a:r>
          </a:p>
          <a:p>
            <a:endParaRPr lang="en-IN" dirty="0"/>
          </a:p>
        </p:txBody>
      </p:sp>
    </p:spTree>
    <p:extLst>
      <p:ext uri="{BB962C8B-B14F-4D97-AF65-F5344CB8AC3E}">
        <p14:creationId xmlns:p14="http://schemas.microsoft.com/office/powerpoint/2010/main" val="950542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34708</TotalTime>
  <Words>273</Words>
  <Application>Microsoft Office PowerPoint</Application>
  <PresentationFormat>On-screen Show (4:3)</PresentationFormat>
  <Paragraphs>56</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Objectives</vt:lpstr>
      <vt:lpstr>Methodology</vt:lpstr>
      <vt:lpstr>Tools &amp; Technologies</vt:lpstr>
      <vt:lpstr>Implementation</vt:lpstr>
      <vt:lpstr>Results &amp; Outcomes</vt:lpstr>
      <vt:lpstr>Future Scope</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Rishit Chadha</cp:lastModifiedBy>
  <cp:revision>2300</cp:revision>
  <dcterms:created xsi:type="dcterms:W3CDTF">2010-04-09T07:36:15Z</dcterms:created>
  <dcterms:modified xsi:type="dcterms:W3CDTF">2026-05-17T11:57:29Z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